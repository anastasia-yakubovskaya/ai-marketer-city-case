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7" d="100"/>
          <a:sy n="47" d="100"/>
        </p:scale>
        <p:origin x="86" y="9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ошибок после запуска, %</c:v>
                </c:pt>
              </c:strCache>
            </c:strRef>
          </c:tx>
          <c:spPr>
            <a:solidFill>
              <a:srgbClr val="FFDD2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1A1A1A"/>
              </a:solidFill>
            </c:spPr>
            <c:extLst>
              <c:ext xmlns:c16="http://schemas.microsoft.com/office/drawing/2014/chart" uri="{C3380CC4-5D6E-409C-BE32-E72D297353CC}">
                <c16:uniqueId val="{00000001-4DE2-4E18-B4CF-4CEDB98C9F89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Недоступный оффер</c:v>
                </c:pt>
                <c:pt idx="1">
                  <c:v>Неверный сегмент</c:v>
                </c:pt>
                <c:pt idx="2">
                  <c:v>Политика</c:v>
                </c:pt>
                <c:pt idx="3">
                  <c:v>Опечатки и тон</c:v>
                </c:pt>
                <c:pt idx="4">
                  <c:v>Текст ≠ условия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DE2-4E18-B4CF-4CEDB98C9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Arial"/>
              </a:rPr>
              <a:t>AI-маркетолог сокращает запуск кампании с 9 дней до ≈1,3, а уровень автоматизации растёт только после доказательств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DD2D"/>
                </a:solidFill>
                <a:latin typeface="Arial"/>
              </a:rPr>
              <a:t>9 → ≈1,3 дня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74950"/>
            <a:ext cx="3200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запуск шаблонной кампании (модель, p50). Новые кампании с юридической очередью: 2,7 дня; в смеси 50/50 — 1,7 дня, p90 3,3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01168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214884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DD2D"/>
                </a:solidFill>
                <a:latin typeface="Arial"/>
              </a:rPr>
              <a:t>−33%…63%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774950"/>
            <a:ext cx="3200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время от гипотезы до подтверждённого результата при окне наблюдения 28…7 дней: окно измерения не сжимается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01168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9" y="214884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DD2D"/>
                </a:solidFill>
                <a:latin typeface="Arial"/>
              </a:rPr>
              <a:t>≈13,5 млн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774950"/>
            <a:ext cx="3200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стоимость пилота gross: 5 человек × 0,35 × 6 мес. + инфраструктура и резерв (диапазон 12,4–15,7)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Что просим решить: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запустить пилот на 6 месяцев командой из 5 человек. Право отказаться от масштабирования в M6 стоит ≈13,5 млн ₽, а не стоимость внедрения на весь контур.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Метки достоверности: FACT — условие кейса · MODEL — расчёт репозитория · ASSUMPTION — рабочее допущение, проверяемое пилотом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Главный резерв модели — убрать ожидание между ролями, а не сокращать работу людей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88336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6382512"/>
            <a:ext cx="7168896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«3 + 6» и очередь юриста — ASSUMPTION.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7078"/>
                </a:solidFill>
                <a:latin typeface="Arial"/>
              </a:rPr>
              <a:t>СЕЙЧАС: 9 дней запуска + 5 дней разбор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Гипотеза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1+ дн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84248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Анализ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2 дн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4136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Сегмент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 дн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64024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Оффер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1–2 дн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Креативы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2 дн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Проверка + юрист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 дн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Запуск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3 дн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77856" y="1737360"/>
            <a:ext cx="1298448" cy="82296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23576" y="1783080"/>
            <a:ext cx="1207007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Разбор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5 дн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Рабочая гипотеза для декомпозиции: 3 дня активной работы + 6 дней ожидания; это не факт кейса и проверяется в shadow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7078"/>
                </a:solidFill>
                <a:latin typeface="Arial"/>
              </a:rPr>
              <a:t>СТАНЕТ: шаблонная кампания, p50 по модели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Приём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0,15 дн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12848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58568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Аудитория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0,25 дн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77056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22776" y="3660243"/>
            <a:ext cx="1417319" cy="589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dirty="0" err="1">
                <a:solidFill>
                  <a:srgbClr val="1A1A1A"/>
                </a:solidFill>
                <a:latin typeface="Arial"/>
              </a:rPr>
              <a:t>Оффер</a:t>
            </a:r>
            <a:r>
              <a:rPr sz="1100" b="1" dirty="0">
                <a:solidFill>
                  <a:srgbClr val="1A1A1A"/>
                </a:solidFill>
                <a:latin typeface="Arial"/>
              </a:rPr>
              <a:t> и </a:t>
            </a:r>
            <a:r>
              <a:rPr sz="1100" b="1" dirty="0" err="1">
                <a:solidFill>
                  <a:srgbClr val="1A1A1A"/>
                </a:solidFill>
                <a:latin typeface="Arial"/>
              </a:rPr>
              <a:t>креатив</a:t>
            </a:r>
            <a:endParaRPr sz="1100" b="1" dirty="0">
              <a:solidFill>
                <a:srgbClr val="1A1A1A"/>
              </a:solidFill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sz="1200" b="0" dirty="0">
                <a:solidFill>
                  <a:srgbClr val="1A1A1A"/>
                </a:solidFill>
                <a:latin typeface="Arial"/>
              </a:rPr>
              <a:t>0,20 </a:t>
            </a:r>
            <a:r>
              <a:rPr lang="ru-RU" sz="1200" dirty="0">
                <a:solidFill>
                  <a:srgbClr val="1A1A1A"/>
                </a:solidFill>
                <a:latin typeface="Arial"/>
              </a:rPr>
              <a:t>дня, параллельно</a:t>
            </a:r>
            <a:endParaRPr sz="120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541264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86983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Проверки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0,25 дн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05472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51192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Один клик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0,10 дн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5661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15400" y="3611879"/>
            <a:ext cx="1417319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Пробный запуск 3%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0,35 дн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720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617720"/>
            <a:ext cx="53035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Шаблонная кампания: 1,3 дня (p90 1,5)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шаблон согласован заранее — юриста в потоке нет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5720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4617720"/>
            <a:ext cx="53035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Новая кампания: 2,7 дня (p90 3,6)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добавляется очередь юриста 0,5–1–3 дня; в смеси 50/50: p50 1,7, p90 3,3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1A1A"/>
                </a:solidFill>
                <a:latin typeface="Arial"/>
              </a:rPr>
              <a:t>До подтверждённого результата выигрыш меньше, потому что окно наблюдения не сжимается: −63% при окне 7 дней, −48% при 14, −33% при 28.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AI берёт рутину 7 шагов и разбора итогов, а маркетолог, аналитик и редактор переходят к решениям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6382512"/>
            <a:ext cx="828446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120 кампаний/мес. — факт кейса; 2 ч ручной проверки на кампанию — допущение. Сценарий даёт ≈1,4 FTE и проверяется shadow-замером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5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Шаг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Делает AI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Остаётся человеку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 Гипотеза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идеи из истории и данных, оценка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выбор стратегии, сезонные акции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2 Анализ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размер аудитории, прогноз эффекта и риска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go / no-go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3 Сегмент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аудитория, холдаут, контактная политика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нестандартные сегменты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4 Оффер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оффер из каталога, канал, сценарий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новые условия и деньги клиента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5 Креативы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тексты внутри согласованных шаблонов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новые шаблоны, тон бренда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6 Проверка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правила, судья, бюджет, политика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спорные случаи, юристы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7 Запуск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карточка, пробный запуск, откат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подтверждение отправки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Разбор итогов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предварительное чтение на следующий день, uplift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выводы и следующая гипотеза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074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138928"/>
            <a:ext cx="32004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Маркетолог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из исполнителя в владельца гипотез, исключений и новых условий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5074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5138928"/>
            <a:ext cx="32004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Аналитик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из сборщика выборок в владельца экспериментов и порогов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50749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5138928"/>
            <a:ext cx="32004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Редактор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из автора текстов в куратора шаблонов, тона и формулировок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Campaign OS: код проверяет факты, ML выбирает контакт, LLM пишет, независимый судья ловит остаточный риск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6382512"/>
            <a:ext cx="97657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Расчёт: contact_policy.py — 20 000 клиентов × 5 недель, синтетическая симуляция; сервисы Города делят один лимит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Данные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каталог офферов, согласия, история контактов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23160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Правила (код)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доступность оффера, политика, бюджет, числа и даты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6052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7679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Causal ML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uplift: кому писать и в каком канале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199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LLM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гипотезы и текст внутри шаблона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9559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19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9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Судья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другая модель: смысл и тон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84080" y="2377440"/>
            <a:ext cx="137160" cy="182880"/>
          </a:xfrm>
          <a:prstGeom prst="rightArrow">
            <a:avLst/>
          </a:prstGeom>
          <a:solidFill>
            <a:srgbClr val="6B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921240" y="15544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1645920"/>
            <a:ext cx="155448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Оркестратор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пробный запуск, откат, kill switch, журнал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118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639312"/>
            <a:ext cx="106984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Контур человека: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одобрить / изменить / отклонить · исключения · граница автономности · решения по инцидентам. В пилоте агент не отправляет сообщения сам: каждую отправку подтверждает человек.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50292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DD2D"/>
                </a:solidFill>
                <a:latin typeface="Arial"/>
              </a:rPr>
              <a:t>20,5% → 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61610"/>
            <a:ext cx="5029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клиентов нарушают политику при 3 сообщениях в неделю, если кампании проверяют только себя; центральный арбитр: 0% ценой 7,4% ценности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72000"/>
            <a:ext cx="539496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Где достаточно обычных правил: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всё, что проверяется однозначно. ML и LLM нужны только там, где правила не работают: выбор аудитории, генерация, смысловая проверка. Если компонент недоступен, система не угадывает, а останавливает кампанию или передаёт её человеку.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При рабочей таксономии основной риск — недоступный оффер; код ловит факты, Judge — смысл и тон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93268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t>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6419088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6414516"/>
            <a:ext cx="120700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DERIVED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1216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71216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4" y="6382512"/>
            <a:ext cx="735177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Таксономия ошибок и охват контролей — ASSUMPTION до разметки реального журнала; цель Judge рассчитывает judge_target.py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5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55448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09160"/>
            <a:ext cx="49377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Масштаб: 120 кампаний × 1,5% × 60% ≈ 1,1 кампании в месяц ≈ 0,3 млн клиентов (охват ≈300 тыс.)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60720" y="1554480"/>
          <a:ext cx="5852159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Класс ошибок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Кто ловит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Цель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Недоступный оффер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код: проверка допустимости до отправки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≥ 95%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Политика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центральный арбитр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0 по построению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Текст ≠ условия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условия из каталога + сверка кодом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любое расхождение — блок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Опечатки и тон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LLM-судья на другой модели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≥ 85%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760720" y="434340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4389120"/>
            <a:ext cx="557784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Как проверяем самого судью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• судья — другая модель, чем генератор; критические факты проверяет код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• золотой набор не менее 149 критических примеров и независимая выборка человеком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• каппа с экспертами ≥ 0,7; еженедельный прогон; при падении — отключение 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Модельный минимум для класса «опечатки и тон» — 84,4% при рабочей таксономии; operational target пилота ≥85%. Диапазон чувствительности: 72–98%.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Право на больший охват зарабатывается доказательствами, но отправку в пилоте подтверждает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autonomy.py, error_budget.py. Ущерб 1 ₽ на контакт, ED_max 10 000 ₽, канарейка 3%, обнаружение 90% — допущения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106984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DD2D"/>
                </a:solidFill>
                <a:latin typeface="Arial"/>
              </a:rPr>
              <a:t>GREEN_READY = шаблон согласован ✓ · оффер доступен ✓ · политика ✓ · судья ✓ · низкий риск ✓ · охват в лимите ✓ · error budget в норме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L1 Один клик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59 безошибочных → граница ошибок 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4688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5146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L2 Green limited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149 → ≤2%; охват 0,5 млн без канарейки, 4,0 млн с канарейкой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4688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48840" cy="12801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L2 Green standard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299 → ≤1%; охват 1,0 / 7,9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70408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Понижение — сразу: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критический инцидент = стоп и понижение; расход error budget ≥0.5 — внимание, ≥0.8 — заморозка, ≥1.0 — понижение. Всегда человек: новые условия, SMS, спецпроекты, юридически чувствительные акции.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468880"/>
            <a:ext cx="3749039" cy="35661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2514600"/>
            <a:ext cx="3474720" cy="3474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Карточка одного клика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Аудитория и почему именно она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Оффер и источник условий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Прогноз uplift, интервал, холдаут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Проверки: политика ✓ бюджет ✓ оффер ✓ судья ✓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Arial"/>
              </a:rPr>
              <a:t>Тир, охват, пробный запуск 3%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Arial"/>
              </a:rPr>
              <a:t>Почему ИИ рекомендует запуск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Arial"/>
              </a:rPr>
              <a:t>ОДОБРИТЬ · ИЗМЕНИТЬ · ОТКЛОНИТЬ (причина обязательна)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70408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В пилоте человек подтверждает каждую отправку. Активный просмотр карточки — 1–2 минуты; lead time подтверждения измеряем отдельно, target p50 ≤0,5 дня. Green — автоматическая подготовка и больший допустимый охват, а не auto-send.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Мы докажем два разных факта: кампания даёт инкрементальный GMV, а ИИ не хуже человека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Расчёты: experiment_design.py, gmv_sample_size.py. Вариация чека c — допущение; базовая конверсия 5%, +20%, мощность 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1  Кампания против холдаута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057400"/>
          <a:ext cx="5029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Клиентов на ветку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С CUPED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Конверсия (прокси)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8 155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5 709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GMV, вариация чека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16 789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11 753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GMV, вариация чека 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42 691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29 884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GMV, вариация чека 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85 859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60 102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4526280"/>
            <a:ext cx="50292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Главная метрика — инкрементальный GMV: при вариации чека 2 выборка в 5 раз больше, чем для конверсии. 10% контроль используется внутри MDE/эксперимента; отдельный постоянный holdout 1–2% — для накопленного эффекта и fatigue.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DD2D"/>
                </a:solidFill>
                <a:latin typeface="Arial"/>
              </a:rPr>
              <a:t>2  ИИ против человека (неухудшение)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2057400"/>
          <a:ext cx="50291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Допуск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Чек = 1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Чек = 2</a:t>
                      </a:r>
                    </a:p>
                  </a:txBody>
                  <a:tcPr marL="64008" marR="64008" marT="27432" marB="27432" anchor="ctr">
                    <a:solidFill>
                      <a:srgbClr val="FFD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30% эффекта (0,3 п.п.)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159 923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407 225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20% эффекта (0,2 п.п.)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359 825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916 255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10% эффекта (0,1 п.п.)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1 439 300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3 665 020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3977639"/>
            <a:ext cx="50292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>
                <a:solidFill>
                  <a:srgbClr val="D2D2D2"/>
                </a:solidFill>
              </a:rPr>
              <a:t>Non-inferiority по GMV: при CV=2 и допуске 30% нужно ≈407 тыс. клиентов на ветку. Экономический порог δ=4,6% намного тоньше: ≈2,94 млн/ветку по конверсии с CUPED и ≈6,07 млн при CV=1. Поэтому M6 оценивает δ + 95% ДИ и обновляет экономику, а не «доказывает 4,6%».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100"/>
              <a:t>Экономика зависит от охвата: ≈15 мес. при полном eligible-контуре и ≈24 мес. при 50%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>
                <a:solidFill>
                  <a:srgbClr val="64696E"/>
                </a:solidFill>
              </a:rPr>
              <a:t>Расчёты: economics.py · 50 000 Monte Carlo · sensitivity: полный eligible-контур vs 50% eligible-ценности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32004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DD2D"/>
                </a:solidFill>
                <a:latin typeface="Arial"/>
              </a:rPr>
              <a:t>15 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73960"/>
            <a:ext cx="32004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50">
                <a:solidFill>
                  <a:srgbClr val="F5F5F5"/>
                </a:solidFill>
              </a:rPr>
              <a:t>Полный eligible-контур, conservative: p50 15 мес.; P(≤24)=66%; 19% не окупаются за 60 мес.; break-even 24 мес. = 4,6%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20040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24 мес</a:t>
            </a:r>
          </a:p>
          <a:p>
            <a:r>
              <a:t>Если адресуемо только 50% eligible-ценности: conservative p50 24 мес.; P(≤24)=28%; 47% не окупаются за 60 мес.; break-even = 9,3%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20040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12 мес</a:t>
            </a:r>
          </a:p>
          <a:p>
            <a:r>
              <a:t>Base при полном eligible-контуре: + монетизированная ёмкость; p50 12 мес. Только если capacity реально переназначается или сокращается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069080"/>
          <a:ext cx="65836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Затраты и стресс-сценарий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Пилот gross (6 мес.)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13,5 млн ₽ (12,4–15,7)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Содержание после пилота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1,45 млн ₽/мес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Uplift = 0: потеря при остановке в M6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≈13,8 (консерв.) / 12,5 (база) млн ₽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Uplift = 0: если не останавливать, NPV 24 мес.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-35 / -12 млн 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06640" y="4069080"/>
            <a:ext cx="41605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900">
                <a:solidFill>
                  <a:srgbClr val="181818"/>
                </a:solidFill>
                <a:latin typeface="Arial"/>
              </a:rPr>
              <a:t>Base, full eligible: p50 total benefit 6,0 млн ₽/мес.; при модальных δ=5% и ROI₀=1,5 conservative payback ≈22 мес.</a:t>
            </a:r>
          </a:p>
        </p:txBody>
      </p:sp>
      <p:sp>
        <p:nvSpPr>
          <p:cNvPr id="19" name="TORNADO_TITLE"/>
          <p:cNvSpPr txBox="1"/>
          <p:nvPr/>
        </p:nvSpPr>
        <p:spPr>
          <a:xfrm>
            <a:off x="7406640" y="459943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81818"/>
                </a:solidFill>
                <a:latin typeface="Arial"/>
              </a:rPr>
              <a:t>Чувствительность NPV: главные драйверы</a:t>
            </a:r>
          </a:p>
        </p:txBody>
      </p:sp>
      <p:sp>
        <p:nvSpPr>
          <p:cNvPr id="20" name="TORNADO_L0"/>
          <p:cNvSpPr txBox="1"/>
          <p:nvPr/>
        </p:nvSpPr>
        <p:spPr>
          <a:xfrm>
            <a:off x="7406640" y="4919472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81818"/>
                </a:solidFill>
                <a:latin typeface="Arial"/>
              </a:rPr>
              <a:t>δ</a:t>
            </a:r>
          </a:p>
        </p:txBody>
      </p:sp>
      <p:sp>
        <p:nvSpPr>
          <p:cNvPr id="21" name="TORNADO_B0"/>
          <p:cNvSpPr/>
          <p:nvPr/>
        </p:nvSpPr>
        <p:spPr>
          <a:xfrm>
            <a:off x="8641080" y="4946904"/>
            <a:ext cx="2240280" cy="146304"/>
          </a:xfrm>
          <a:prstGeom prst="rect">
            <a:avLst/>
          </a:prstGeom>
          <a:solidFill>
            <a:srgbClr val="FFD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RNADO_V0"/>
          <p:cNvSpPr txBox="1"/>
          <p:nvPr/>
        </p:nvSpPr>
        <p:spPr>
          <a:xfrm>
            <a:off x="10954511" y="4905756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138</a:t>
            </a:r>
          </a:p>
        </p:txBody>
      </p:sp>
      <p:sp>
        <p:nvSpPr>
          <p:cNvPr id="23" name="TORNADO_L1"/>
          <p:cNvSpPr txBox="1"/>
          <p:nvPr/>
        </p:nvSpPr>
        <p:spPr>
          <a:xfrm>
            <a:off x="7406640" y="523036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81818"/>
                </a:solidFill>
                <a:latin typeface="Arial"/>
              </a:rPr>
              <a:t>ROI₀</a:t>
            </a:r>
          </a:p>
        </p:txBody>
      </p:sp>
      <p:sp>
        <p:nvSpPr>
          <p:cNvPr id="24" name="TORNADO_B1"/>
          <p:cNvSpPr/>
          <p:nvPr/>
        </p:nvSpPr>
        <p:spPr>
          <a:xfrm>
            <a:off x="8641080" y="5257800"/>
            <a:ext cx="966171" cy="14630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RNADO_V1"/>
          <p:cNvSpPr txBox="1"/>
          <p:nvPr/>
        </p:nvSpPr>
        <p:spPr>
          <a:xfrm>
            <a:off x="9680403" y="5216652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59</a:t>
            </a:r>
          </a:p>
        </p:txBody>
      </p:sp>
      <p:sp>
        <p:nvSpPr>
          <p:cNvPr id="26" name="TORNADO_L2"/>
          <p:cNvSpPr txBox="1"/>
          <p:nvPr/>
        </p:nvSpPr>
        <p:spPr>
          <a:xfrm>
            <a:off x="7406640" y="5541264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81818"/>
                </a:solidFill>
                <a:latin typeface="Arial"/>
              </a:rPr>
              <a:t>Монетизация capacity</a:t>
            </a:r>
          </a:p>
        </p:txBody>
      </p:sp>
      <p:sp>
        <p:nvSpPr>
          <p:cNvPr id="27" name="TORNADO_B2"/>
          <p:cNvSpPr/>
          <p:nvPr/>
        </p:nvSpPr>
        <p:spPr>
          <a:xfrm>
            <a:off x="8641080" y="5568696"/>
            <a:ext cx="386142" cy="146304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RNADO_V2"/>
          <p:cNvSpPr txBox="1"/>
          <p:nvPr/>
        </p:nvSpPr>
        <p:spPr>
          <a:xfrm>
            <a:off x="9100374" y="5527548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24</a:t>
            </a:r>
          </a:p>
        </p:txBody>
      </p:sp>
      <p:sp>
        <p:nvSpPr>
          <p:cNvPr id="29" name="TORNADO_FOOT"/>
          <p:cNvSpPr txBox="1"/>
          <p:nvPr/>
        </p:nvSpPr>
        <p:spPr>
          <a:xfrm>
            <a:off x="7406640" y="587044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A5A5A"/>
                </a:solidFill>
                <a:latin typeface="Arial"/>
              </a:rPr>
              <a:t>Диапазон изменения median NPV, млн ₽ (p10→p90 параметра)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Три риска из ТЗ закрыты контролями и порогами остановки, а ошибка ограничена пробным запуском 3% и откатом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4208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4208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6382512"/>
            <a:ext cx="819302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Расчёт: risk_register.py. FMEA 14 рисков; S/O/D — экспертные допущения для ранжирования, а не измеренные вероятности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0876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Риск из ТЗ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Контроль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DD2D"/>
                          </a:solidFill>
                          <a:latin typeface="Arial"/>
                        </a:rPr>
                        <a:t>Порог остановки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Выдуманные условия оффера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условия подставляются из каталога шаблоном; числа и даты сверяет код; судья читает текст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любое расхождение — блок; критический инцидент — стоп тира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Нарушение контактной политики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центральный арбитр на уровне клиента, отказы от рекламы исключаются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любое нарушение (&gt;0) — стоп отправки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Сбой тона бренда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рубрика судьи на другой модели, золотой набор, выборка редакции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recall судьи &lt; 75% — отключение Green; норма ≥ 85%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A1A1A"/>
                </a:solidFill>
                <a:latin typeface="Arial"/>
              </a:rPr>
              <a:t>Если ошибка всё же ушла клиентам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1 Остановить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очередь на шлюзе, цель ≤ 5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50591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2 Оценить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охват и тяжесть, ≤ 1 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3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6823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3 Откатить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условия и промокоды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5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4 Уведомить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клиентов и владельцев, ≤ 4 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9288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5 Разобрать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причины, пример в золотой набор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799" y="4892040"/>
            <a:ext cx="1764792" cy="914400"/>
          </a:xfrm>
          <a:prstGeom prst="roundRect">
            <a:avLst>
              <a:gd name="adj" fmla="val 8000"/>
            </a:avLst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19" y="4937759"/>
            <a:ext cx="1673351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1A1A"/>
                </a:solidFill>
                <a:latin typeface="Arial"/>
              </a:rPr>
              <a:t>6 Понизить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A1A1A"/>
                </a:solidFill>
                <a:latin typeface="Arial"/>
              </a:rPr>
              <a:t>тир до L1, повторное повышение только по правилу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Остаточные главные риски: рост отдачи ниже безубыточного, общие ошибки судьи и генератора, неверная оценка эффекта на малых выборках. Все сценарии red team (поддельный оффер, устаревший список отказов, повторная отправка, prompt injection) имеют статус PLANNED, а не PASS.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Пять человек за шесть месяцев проходят путь от safety к ограниченной автоматизации, начиная с push и in-app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48132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4813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21408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21408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9856" y="6382512"/>
            <a:ext cx="8101583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Расчёт: portfolio.py. 10 иллюстративных архетипов; фактическую структуру портфеля уточняем на пилоте. Состав команды — предложение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M1–M2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Безопасно ли?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правила, золотой набор, судья, shadow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M3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Используют ли?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карточка одного клика, adoption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M4–M5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Даёт ли эффект?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холдаут, CUPED, неухудшение,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55448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59" y="1600200"/>
            <a:ext cx="237744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DD2D"/>
                </a:solidFill>
                <a:latin typeface="Arial"/>
              </a:rPr>
              <a:t>M6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Масштабировать?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гейт по порогам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91840"/>
          <a:ext cx="585215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Команда 5 человек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D2D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Владелец продукта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решения, юристы, внедрение, экономика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ML / causal инженер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uplift, эксперименты, пороги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LLM-инженер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агенты, судья, золотой набор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Backend и данные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оркестратор, арбитр, интеграции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Дизайнер-исследователь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карточка одного клика, adoption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75120" y="3291840"/>
            <a:ext cx="4937760" cy="3017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t>Что запускаем первым</a:t>
            </a:r>
          </a:p>
          <a:p>
            <a:r>
              <a:t>Волна 1 — 20% типов, волна 2 — ещё 30%; это доля типов, а не бюджета. SMS, новые условия и спецпроекты остаются за человеком.</a:t>
            </a:r>
          </a:p>
          <a:p>
            <a:r>
              <a:t>Как добиваемся использования</a:t>
            </a:r>
          </a:p>
          <a:p>
            <a:r>
              <a:t>цель adoption ≥70% среди eligible-кампаний к M5; обязательная причина отклонения; еженедельный разбор правок.</a:t>
            </a:r>
          </a:p>
          <a:p>
            <a:r>
              <a:t>Шестой нужен, если…</a:t>
            </a:r>
          </a:p>
          <a:p>
            <a:r>
              <a:t>аналитик экспериментов становится узким местом; тогда он берёт дизайн тестов и разбор итогов.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FFD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Каждый месяц пилота снимает одну неопределённость и меняет следующее 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419088"/>
            <a:ext cx="1115568" cy="21945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14516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A1A1A"/>
                </a:solidFill>
                <a:latin typeface="Arial"/>
              </a:rPr>
              <a:t>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6382512"/>
            <a:ext cx="9674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B7078"/>
                </a:solidFill>
                <a:latin typeface="Arial"/>
              </a:rPr>
              <a:t>Пороги: data/processed/stop_thresholds.csv. Срок «постоянно» — непрерывный контроль error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3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Неизвестное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Тест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Свидетельство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D2D"/>
                          </a:solidFill>
                          <a:latin typeface="Arial"/>
                        </a:rPr>
                        <a:t>Решение</a:t>
                      </a:r>
                    </a:p>
                  </a:txBody>
                  <a:tcPr marL="64008" marR="64008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Судья достаточно безопасен?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золотой набор + независимая разметка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recall тона ≥ 85%; каппа ≥ 0,7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M2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L0 → L1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Люди используют продукт?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телеметрия карточки одного клика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adoption, доля правок, время утверждения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доработка интерфейса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ИИ не хуже человека?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ИИ / человек / холдаут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нижняя граница ДИ неухудшения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M5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следующий rollout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/>
                        <a:t>Эффект AI vs human?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AI / human / holdout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δ + 95% ДИ; payback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M5–M6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extend / scale / stop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Риск стабилен?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error budget и SPRT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расход бюджета ошибок, инциденты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постоянно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повысить или понизить тир</a:t>
                      </a:r>
                    </a:p>
                  </a:txBody>
                  <a:tcPr marL="64008" marR="64008" marT="27432" marB="27432" anchor="ctr">
                    <a:solidFill>
                      <a:srgbClr val="F1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1A"/>
                </a:solidFill>
                <a:latin typeface="Arial"/>
              </a:rPr>
              <a:t>Пилот покупает информацию: если эффект не подтверждается, мы прекращаем масштабирование, потратив только стоимость пилота.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92608"/>
            <a:ext cx="822960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Arial"/>
              </a:rPr>
              <a:t>Через 6 месяцев — не «AI работает», а решение: масштабировать, дорабатывать или остановить, если выполнены все 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B7078"/>
                </a:solidFill>
                <a:latin typeface="Arial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DD2D"/>
                </a:solidFill>
                <a:latin typeface="Arial"/>
              </a:rPr>
              <a:t>Масштабировать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00400" cy="2834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>
                <a:solidFill>
                  <a:srgbClr val="F5F5F5"/>
                </a:solidFill>
              </a:rPr>
              <a:t>• AI не хуже человека по GMV; safety в норме</a:t>
            </a:r>
          </a:p>
          <a:p>
            <a:r>
              <a:rPr sz="1200">
                <a:solidFill>
                  <a:srgbClr val="F5F5F5"/>
                </a:solidFill>
              </a:rPr>
              <a:t>• δ̂ &gt; 0; обновлённая экономика привлекательна</a:t>
            </a:r>
          </a:p>
          <a:p>
            <a:r>
              <a:rPr sz="1200">
                <a:solidFill>
                  <a:srgbClr val="F5F5F5"/>
                </a:solidFill>
              </a:rPr>
              <a:t>• full rollout — только когда ДИ поддерживает break-even</a:t>
            </a:r>
          </a:p>
          <a:p>
            <a:r>
              <a:rPr sz="1200">
                <a:solidFill>
                  <a:srgbClr val="F5F5F5"/>
                </a:solidFill>
              </a:rPr>
              <a:t>• κ ≥ 0,7; adoption ≥70% среди eligible; запуск ≤2 дней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8288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Дорабатывать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200400" cy="2834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>
                <a:solidFill>
                  <a:srgbClr val="F5F5F5"/>
                </a:solidFill>
              </a:rPr>
              <a:t>• δ̂ &gt; 0, но ДИ включает break-even</a:t>
            </a:r>
          </a:p>
          <a:p>
            <a:r>
              <a:rPr sz="1200">
                <a:solidFill>
                  <a:srgbClr val="F5F5F5"/>
                </a:solidFill>
              </a:rPr>
              <a:t>• мощности недостаточно для экономического вывода</a:t>
            </a:r>
          </a:p>
          <a:p>
            <a:r>
              <a:rPr sz="1200">
                <a:solidFill>
                  <a:srgbClr val="F5F5F5"/>
                </a:solidFill>
              </a:rPr>
              <a:t>• при 50% eligible экономика слабее</a:t>
            </a:r>
          </a:p>
          <a:p>
            <a:r>
              <a:rPr sz="1200">
                <a:solidFill>
                  <a:srgbClr val="F5F5F5"/>
                </a:solidFill>
              </a:rPr>
              <a:t>• adoption среди eligible ниже цели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8A65"/>
                </a:solidFill>
                <a:latin typeface="Arial"/>
              </a:rPr>
              <a:t>Остановить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200400" cy="2834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• критический инцидент без устранённой причины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• рост отдачи ≤ 0 при достаточной мощности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• затраты пилота выше 15,7 млн ₽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• судья ниже порога после повторной калибровки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00">
                <a:solidFill>
                  <a:srgbClr val="141414"/>
                </a:solidFill>
              </a:rPr>
              <a:t>Пилот ≈13,5 млн ₽ gross — цена права не масштабировать. При широкой ДИ расширяем только контролируемый эксперимент.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3565</Words>
  <Application>Microsoft Office PowerPoint</Application>
  <PresentationFormat>Широкоэкранный</PresentationFormat>
  <Paragraphs>618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Елена Якубовская</cp:lastModifiedBy>
  <cp:revision>3</cp:revision>
  <dcterms:created xsi:type="dcterms:W3CDTF">2013-01-27T09:14:16Z</dcterms:created>
  <dcterms:modified xsi:type="dcterms:W3CDTF">2026-10-18T15:52:48Z</dcterms:modified>
  <cp:category/>
</cp:coreProperties>
</file>